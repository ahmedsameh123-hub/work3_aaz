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libri (MS)" panose="020B0604020202020204" charset="0"/>
      <p:regular r:id="rId26"/>
    </p:embeddedFont>
    <p:embeddedFont>
      <p:font typeface="Calibri (MS) Bold" panose="020B0604020202020204" charset="0"/>
      <p:regular r:id="rId27"/>
    </p:embeddedFont>
    <p:embeddedFont>
      <p:font typeface="Calibri (MS) Italics" panose="020B0604020202020204" charset="0"/>
      <p:regular r:id="rId28"/>
    </p:embeddedFont>
    <p:embeddedFont>
      <p:font typeface="Canva Sans Bold" panose="020B0604020202020204" charset="0"/>
      <p:regular r:id="rId29"/>
    </p:embeddedFont>
    <p:embeddedFont>
      <p:font typeface="PT Sans Bold" panose="020B0604020202020204" charset="0"/>
      <p:regular r:id="rId30"/>
    </p:embeddedFont>
    <p:embeddedFont>
      <p:font typeface="PT Sans Bold Italics" panose="020B0604020202020204" charset="0"/>
      <p:regular r:id="rId31"/>
    </p:embeddedFont>
    <p:embeddedFont>
      <p:font typeface="The Season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2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8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16.svg"/><Relationship Id="rId5" Type="http://schemas.openxmlformats.org/officeDocument/2006/relationships/image" Target="../media/image11.sv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1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9.png"/><Relationship Id="rId4" Type="http://schemas.openxmlformats.org/officeDocument/2006/relationships/image" Target="../media/image21.svg"/><Relationship Id="rId9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3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4.pn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5.pn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6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7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9.pn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0.pn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1.png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11" Type="http://schemas.openxmlformats.org/officeDocument/2006/relationships/image" Target="../media/image9.png"/><Relationship Id="rId5" Type="http://schemas.openxmlformats.org/officeDocument/2006/relationships/image" Target="../media/image44.svg"/><Relationship Id="rId10" Type="http://schemas.openxmlformats.org/officeDocument/2006/relationships/image" Target="../media/image48.svg"/><Relationship Id="rId4" Type="http://schemas.openxmlformats.org/officeDocument/2006/relationships/image" Target="../media/image43.svg"/><Relationship Id="rId9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42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2C46">
                <a:alpha val="100000"/>
              </a:srgbClr>
            </a:gs>
            <a:gs pos="100000">
              <a:srgbClr val="9B4169">
                <a:alpha val="100000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32864" y="9539145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5" b="-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7040975" y="-2113396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1" y="0"/>
                </a:lnTo>
                <a:lnTo>
                  <a:pt x="14264831" y="14202794"/>
                </a:lnTo>
                <a:lnTo>
                  <a:pt x="0" y="1420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848017" y="766178"/>
            <a:ext cx="8479298" cy="8367446"/>
          </a:xfrm>
          <a:custGeom>
            <a:avLst/>
            <a:gdLst/>
            <a:ahLst/>
            <a:cxnLst/>
            <a:rect l="l" t="t" r="r" b="b"/>
            <a:pathLst>
              <a:path w="8479298" h="8367446">
                <a:moveTo>
                  <a:pt x="0" y="0"/>
                </a:moveTo>
                <a:lnTo>
                  <a:pt x="8479297" y="0"/>
                </a:lnTo>
                <a:lnTo>
                  <a:pt x="8479297" y="8367446"/>
                </a:lnTo>
                <a:lnTo>
                  <a:pt x="0" y="8367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22624" y="2661245"/>
            <a:ext cx="8404193" cy="4855243"/>
            <a:chOff x="0" y="0"/>
            <a:chExt cx="10725290" cy="61961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25293" cy="6196176"/>
            </a:xfrm>
            <a:custGeom>
              <a:avLst/>
              <a:gdLst/>
              <a:ahLst/>
              <a:cxnLst/>
              <a:rect l="l" t="t" r="r" b="b"/>
              <a:pathLst>
                <a:path w="10725293" h="6196176">
                  <a:moveTo>
                    <a:pt x="0" y="0"/>
                  </a:moveTo>
                  <a:lnTo>
                    <a:pt x="10725293" y="0"/>
                  </a:lnTo>
                  <a:lnTo>
                    <a:pt x="10725293" y="6196176"/>
                  </a:lnTo>
                  <a:lnTo>
                    <a:pt x="0" y="61961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046" r="-28427" b="-959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71475"/>
              <a:ext cx="10725290" cy="656765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5400" spc="-225">
                  <a:solidFill>
                    <a:srgbClr val="EFF7FC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Intelligent System For Insulin Resistance Diagnosis &amp; Personalized Nutritional Management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6572" y="200506"/>
            <a:ext cx="1599238" cy="799619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3099" y="274953"/>
            <a:ext cx="1466762" cy="612625"/>
            <a:chOff x="0" y="0"/>
            <a:chExt cx="3549371" cy="14824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49396" cy="1482471"/>
            </a:xfrm>
            <a:custGeom>
              <a:avLst/>
              <a:gdLst/>
              <a:ahLst/>
              <a:cxnLst/>
              <a:rect l="l" t="t" r="r" b="b"/>
              <a:pathLst>
                <a:path w="3549396" h="1482471">
                  <a:moveTo>
                    <a:pt x="0" y="0"/>
                  </a:moveTo>
                  <a:lnTo>
                    <a:pt x="3549396" y="0"/>
                  </a:lnTo>
                  <a:lnTo>
                    <a:pt x="3549396" y="1482471"/>
                  </a:lnTo>
                  <a:lnTo>
                    <a:pt x="0" y="1482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889387" y="7516488"/>
            <a:ext cx="6078626" cy="1690963"/>
          </a:xfrm>
          <a:custGeom>
            <a:avLst/>
            <a:gdLst/>
            <a:ahLst/>
            <a:cxnLst/>
            <a:rect l="l" t="t" r="r" b="b"/>
            <a:pathLst>
              <a:path w="6078626" h="1690963">
                <a:moveTo>
                  <a:pt x="0" y="0"/>
                </a:moveTo>
                <a:lnTo>
                  <a:pt x="6078625" y="0"/>
                </a:lnTo>
                <a:lnTo>
                  <a:pt x="6078625" y="1690964"/>
                </a:lnTo>
                <a:lnTo>
                  <a:pt x="0" y="1690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982749" y="3526046"/>
            <a:ext cx="471890" cy="523265"/>
          </a:xfrm>
          <a:custGeom>
            <a:avLst/>
            <a:gdLst/>
            <a:ahLst/>
            <a:cxnLst/>
            <a:rect l="l" t="t" r="r" b="b"/>
            <a:pathLst>
              <a:path w="471890" h="523265">
                <a:moveTo>
                  <a:pt x="0" y="0"/>
                </a:moveTo>
                <a:lnTo>
                  <a:pt x="471890" y="0"/>
                </a:lnTo>
                <a:lnTo>
                  <a:pt x="471890" y="523265"/>
                </a:lnTo>
                <a:lnTo>
                  <a:pt x="0" y="523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3176293" y="1585334"/>
            <a:ext cx="1822745" cy="1262665"/>
          </a:xfrm>
          <a:custGeom>
            <a:avLst/>
            <a:gdLst/>
            <a:ahLst/>
            <a:cxnLst/>
            <a:rect l="l" t="t" r="r" b="b"/>
            <a:pathLst>
              <a:path w="1822745" h="1262665">
                <a:moveTo>
                  <a:pt x="0" y="0"/>
                </a:moveTo>
                <a:lnTo>
                  <a:pt x="1822745" y="0"/>
                </a:lnTo>
                <a:lnTo>
                  <a:pt x="1822745" y="1262665"/>
                </a:lnTo>
                <a:lnTo>
                  <a:pt x="0" y="1262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761326" y="4879658"/>
            <a:ext cx="8479298" cy="56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22510688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90529" y="3785410"/>
            <a:ext cx="6020892" cy="56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8"/>
              </a:lnSpc>
              <a:spcBef>
                <a:spcPct val="0"/>
              </a:spcBef>
            </a:pPr>
            <a:r>
              <a:rPr lang="en-US" sz="4007" b="1">
                <a:solidFill>
                  <a:srgbClr val="4040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Jana Mahmoud Bedawy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92872" y="6500858"/>
            <a:ext cx="847929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34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SUPERVISOR:RAMADAN BEBARS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622583" y="3804914"/>
            <a:ext cx="1006296" cy="993024"/>
          </a:xfrm>
          <a:custGeom>
            <a:avLst/>
            <a:gdLst/>
            <a:ahLst/>
            <a:cxnLst/>
            <a:rect l="l" t="t" r="r" b="b"/>
            <a:pathLst>
              <a:path w="1006296" h="993024">
                <a:moveTo>
                  <a:pt x="0" y="0"/>
                </a:moveTo>
                <a:lnTo>
                  <a:pt x="1006296" y="0"/>
                </a:lnTo>
                <a:lnTo>
                  <a:pt x="1006296" y="993024"/>
                </a:lnTo>
                <a:lnTo>
                  <a:pt x="0" y="993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657546" y="5459303"/>
            <a:ext cx="971334" cy="970071"/>
          </a:xfrm>
          <a:custGeom>
            <a:avLst/>
            <a:gdLst/>
            <a:ahLst/>
            <a:cxnLst/>
            <a:rect l="l" t="t" r="r" b="b"/>
            <a:pathLst>
              <a:path w="971334" h="970071">
                <a:moveTo>
                  <a:pt x="0" y="0"/>
                </a:moveTo>
                <a:lnTo>
                  <a:pt x="971333" y="0"/>
                </a:lnTo>
                <a:lnTo>
                  <a:pt x="971333" y="970071"/>
                </a:lnTo>
                <a:lnTo>
                  <a:pt x="0" y="970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622583" y="2192765"/>
            <a:ext cx="977327" cy="993024"/>
          </a:xfrm>
          <a:custGeom>
            <a:avLst/>
            <a:gdLst/>
            <a:ahLst/>
            <a:cxnLst/>
            <a:rect l="l" t="t" r="r" b="b"/>
            <a:pathLst>
              <a:path w="977327" h="993024">
                <a:moveTo>
                  <a:pt x="0" y="0"/>
                </a:moveTo>
                <a:lnTo>
                  <a:pt x="977327" y="0"/>
                </a:lnTo>
                <a:lnTo>
                  <a:pt x="977327" y="993024"/>
                </a:lnTo>
                <a:lnTo>
                  <a:pt x="0" y="993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673400" y="8582264"/>
            <a:ext cx="955479" cy="956880"/>
          </a:xfrm>
          <a:custGeom>
            <a:avLst/>
            <a:gdLst/>
            <a:ahLst/>
            <a:cxnLst/>
            <a:rect l="l" t="t" r="r" b="b"/>
            <a:pathLst>
              <a:path w="955479" h="956880">
                <a:moveTo>
                  <a:pt x="0" y="0"/>
                </a:moveTo>
                <a:lnTo>
                  <a:pt x="955479" y="0"/>
                </a:lnTo>
                <a:lnTo>
                  <a:pt x="955479" y="956881"/>
                </a:lnTo>
                <a:lnTo>
                  <a:pt x="0" y="956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083314" y="7107596"/>
            <a:ext cx="1010824" cy="1034115"/>
          </a:xfrm>
          <a:custGeom>
            <a:avLst/>
            <a:gdLst/>
            <a:ahLst/>
            <a:cxnLst/>
            <a:rect l="l" t="t" r="r" b="b"/>
            <a:pathLst>
              <a:path w="1010824" h="1034115">
                <a:moveTo>
                  <a:pt x="0" y="0"/>
                </a:moveTo>
                <a:lnTo>
                  <a:pt x="1010824" y="0"/>
                </a:lnTo>
                <a:lnTo>
                  <a:pt x="1010824" y="1034115"/>
                </a:lnTo>
                <a:lnTo>
                  <a:pt x="0" y="1034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843661" y="234272"/>
            <a:ext cx="9434925" cy="1588857"/>
            <a:chOff x="0" y="0"/>
            <a:chExt cx="12579901" cy="21184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79900" cy="2118482"/>
            </a:xfrm>
            <a:custGeom>
              <a:avLst/>
              <a:gdLst/>
              <a:ahLst/>
              <a:cxnLst/>
              <a:rect l="l" t="t" r="r" b="b"/>
              <a:pathLst>
                <a:path w="12579900" h="2118482">
                  <a:moveTo>
                    <a:pt x="0" y="0"/>
                  </a:moveTo>
                  <a:lnTo>
                    <a:pt x="12579900" y="0"/>
                  </a:lnTo>
                  <a:lnTo>
                    <a:pt x="12579900" y="2118482"/>
                  </a:lnTo>
                  <a:lnTo>
                    <a:pt x="0" y="21184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8012" r="-80115" b="-1287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12579901" cy="2042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63"/>
                </a:lnSpc>
              </a:pPr>
              <a:r>
                <a:rPr lang="en-US" sz="5799" b="1" i="1" spc="-280">
                  <a:solidFill>
                    <a:srgbClr val="262626"/>
                  </a:solidFill>
                  <a:latin typeface="PT Sans Bold Italics"/>
                  <a:ea typeface="PT Sans Bold Italics"/>
                  <a:cs typeface="PT Sans Bold Italics"/>
                  <a:sym typeface="PT Sans Bold Italics"/>
                </a:rPr>
                <a:t>Table of Contents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595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3640897" y="7006259"/>
            <a:ext cx="969669" cy="956880"/>
          </a:xfrm>
          <a:custGeom>
            <a:avLst/>
            <a:gdLst/>
            <a:ahLst/>
            <a:cxnLst/>
            <a:rect l="l" t="t" r="r" b="b"/>
            <a:pathLst>
              <a:path w="969669" h="956880">
                <a:moveTo>
                  <a:pt x="0" y="0"/>
                </a:moveTo>
                <a:lnTo>
                  <a:pt x="969669" y="0"/>
                </a:lnTo>
                <a:lnTo>
                  <a:pt x="969669" y="956880"/>
                </a:lnTo>
                <a:lnTo>
                  <a:pt x="0" y="9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0083314" y="2271149"/>
            <a:ext cx="958126" cy="956880"/>
          </a:xfrm>
          <a:custGeom>
            <a:avLst/>
            <a:gdLst/>
            <a:ahLst/>
            <a:cxnLst/>
            <a:rect l="l" t="t" r="r" b="b"/>
            <a:pathLst>
              <a:path w="958126" h="956880">
                <a:moveTo>
                  <a:pt x="0" y="0"/>
                </a:moveTo>
                <a:lnTo>
                  <a:pt x="958126" y="0"/>
                </a:lnTo>
                <a:lnTo>
                  <a:pt x="958126" y="956880"/>
                </a:lnTo>
                <a:lnTo>
                  <a:pt x="0" y="9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083314" y="5459303"/>
            <a:ext cx="990309" cy="1006215"/>
          </a:xfrm>
          <a:custGeom>
            <a:avLst/>
            <a:gdLst/>
            <a:ahLst/>
            <a:cxnLst/>
            <a:rect l="l" t="t" r="r" b="b"/>
            <a:pathLst>
              <a:path w="990309" h="1006215">
                <a:moveTo>
                  <a:pt x="0" y="0"/>
                </a:moveTo>
                <a:lnTo>
                  <a:pt x="990309" y="0"/>
                </a:lnTo>
                <a:lnTo>
                  <a:pt x="990309" y="1006215"/>
                </a:lnTo>
                <a:lnTo>
                  <a:pt x="0" y="10062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085961" y="3883298"/>
            <a:ext cx="955479" cy="956880"/>
          </a:xfrm>
          <a:custGeom>
            <a:avLst/>
            <a:gdLst/>
            <a:ahLst/>
            <a:cxnLst/>
            <a:rect l="l" t="t" r="r" b="b"/>
            <a:pathLst>
              <a:path w="955479" h="956880">
                <a:moveTo>
                  <a:pt x="0" y="0"/>
                </a:moveTo>
                <a:lnTo>
                  <a:pt x="955479" y="0"/>
                </a:lnTo>
                <a:lnTo>
                  <a:pt x="955479" y="956880"/>
                </a:lnTo>
                <a:lnTo>
                  <a:pt x="0" y="956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060861" y="2391721"/>
            <a:ext cx="2027818" cy="65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Abstract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87089" y="3737098"/>
            <a:ext cx="4127347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33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 &amp;</a:t>
            </a:r>
          </a:p>
          <a:p>
            <a:pPr algn="l">
              <a:lnSpc>
                <a:spcPts val="3671"/>
              </a:lnSpc>
            </a:pPr>
            <a:r>
              <a:rPr lang="en-US" sz="33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7089" y="5652925"/>
            <a:ext cx="2997779" cy="651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Related work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7089" y="7151020"/>
            <a:ext cx="190159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12965" y="2518487"/>
            <a:ext cx="1538049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87089" y="8745872"/>
            <a:ext cx="120135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12965" y="4112564"/>
            <a:ext cx="175533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48659" y="7305604"/>
            <a:ext cx="285985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51776" y="5512313"/>
            <a:ext cx="3253621" cy="1194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Challenges </a:t>
            </a:r>
          </a:p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Limitations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34196" y="2213999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34196" y="3823964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974089" y="5502788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34196" y="7025309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74089" y="8601314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86655" y="2351678"/>
            <a:ext cx="354092" cy="89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11685" y="3946733"/>
            <a:ext cx="354092" cy="89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411685" y="5535929"/>
            <a:ext cx="354092" cy="89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11675" y="7179893"/>
            <a:ext cx="354101" cy="89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-5501169" y="-1814614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1" y="0"/>
                </a:lnTo>
                <a:lnTo>
                  <a:pt x="14264831" y="14202794"/>
                </a:lnTo>
                <a:lnTo>
                  <a:pt x="0" y="1420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08011" y="4197278"/>
            <a:ext cx="4672403" cy="1892445"/>
            <a:chOff x="0" y="0"/>
            <a:chExt cx="6229871" cy="25232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29874" cy="2523264"/>
            </a:xfrm>
            <a:custGeom>
              <a:avLst/>
              <a:gdLst/>
              <a:ahLst/>
              <a:cxnLst/>
              <a:rect l="l" t="t" r="r" b="b"/>
              <a:pathLst>
                <a:path w="6229874" h="2523264">
                  <a:moveTo>
                    <a:pt x="0" y="0"/>
                  </a:moveTo>
                  <a:lnTo>
                    <a:pt x="6229874" y="0"/>
                  </a:lnTo>
                  <a:lnTo>
                    <a:pt x="6229874" y="2523264"/>
                  </a:lnTo>
                  <a:lnTo>
                    <a:pt x="0" y="25232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822" r="-51419" b="-647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6229871" cy="246611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11362"/>
                </a:lnSpc>
              </a:pPr>
              <a:r>
                <a:rPr lang="en-US" sz="9999" b="1" spc="-35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Abstract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196663" y="2320261"/>
            <a:ext cx="9564247" cy="651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315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InsulinSense</a:t>
            </a:r>
            <a:r>
              <a:rPr lang="en-US" sz="3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 an intelligent web-based healthcare system for early detection and management of insulin resistance. 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315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uses machine learning to analyze clinical and laboratory data, predict insulin resistance severity, and provide personalized low-glycemic meal recommendations. 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315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platform also includes OCR-based lab report extraction, health dashboard monitoring, secure user accounts, and PDF report export. 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315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3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 combining prediction, tracking, and dietary guidance in one platform, </a:t>
            </a:r>
            <a:r>
              <a:rPr lang="en-US" sz="315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InsulinSense </a:t>
            </a:r>
            <a:r>
              <a:rPr lang="en-US" sz="315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helps users make informed health decisions through a simple and interactive interface.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595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32864" y="9539145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5" b="-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9891844" y="0"/>
            <a:ext cx="9087526" cy="10287000"/>
          </a:xfrm>
          <a:custGeom>
            <a:avLst/>
            <a:gdLst/>
            <a:ahLst/>
            <a:cxnLst/>
            <a:rect l="l" t="t" r="r" b="b"/>
            <a:pathLst>
              <a:path w="9087526" h="10287000">
                <a:moveTo>
                  <a:pt x="0" y="0"/>
                </a:moveTo>
                <a:lnTo>
                  <a:pt x="9087526" y="0"/>
                </a:lnTo>
                <a:lnTo>
                  <a:pt x="9087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721466" y="4001716"/>
            <a:ext cx="7428281" cy="2202751"/>
            <a:chOff x="0" y="0"/>
            <a:chExt cx="9904375" cy="293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04378" cy="2936997"/>
            </a:xfrm>
            <a:custGeom>
              <a:avLst/>
              <a:gdLst/>
              <a:ahLst/>
              <a:cxnLst/>
              <a:rect l="l" t="t" r="r" b="b"/>
              <a:pathLst>
                <a:path w="9904378" h="2936997">
                  <a:moveTo>
                    <a:pt x="0" y="0"/>
                  </a:moveTo>
                  <a:lnTo>
                    <a:pt x="9904378" y="0"/>
                  </a:lnTo>
                  <a:lnTo>
                    <a:pt x="9904378" y="2936997"/>
                  </a:lnTo>
                  <a:lnTo>
                    <a:pt x="0" y="29369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6744" r="21989" b="242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9904375" cy="286080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System Architecture &amp; functions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8200" y="1202885"/>
            <a:ext cx="8305800" cy="805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(React):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 Handles user interaction, data input, and result visualization.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(Flask):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 Processes requests, authentication, and connects system modules.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 Model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: Predicts insulin resistance using clinical data and HOMA-IR.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 Module: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 Extracts medical values from uploaded lab reports.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Meal Recommendation Engine: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 Generates personalized low-GI meal plans.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(SQLite):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 Stores users, predictions, meal plans, and progress history.</a:t>
            </a:r>
          </a:p>
          <a:p>
            <a:pPr marL="703903" lvl="1" indent="-351951" algn="l">
              <a:lnSpc>
                <a:spcPts val="4238"/>
              </a:lnSpc>
              <a:buFont typeface="Arial"/>
              <a:buChar char="•"/>
            </a:pPr>
            <a:r>
              <a:rPr lang="en-US" sz="326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 Dashboard</a:t>
            </a:r>
            <a:r>
              <a:rPr lang="en-US" sz="326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: Displays health trends and AI insights.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2C46">
                <a:alpha val="100000"/>
              </a:srgbClr>
            </a:gs>
            <a:gs pos="100000">
              <a:srgbClr val="9B4169">
                <a:alpha val="100000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68383" y="-2062672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1" y="0"/>
                </a:lnTo>
                <a:lnTo>
                  <a:pt x="14264831" y="14202794"/>
                </a:lnTo>
                <a:lnTo>
                  <a:pt x="0" y="1420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606123" y="776444"/>
            <a:ext cx="9044140" cy="8924839"/>
          </a:xfrm>
          <a:custGeom>
            <a:avLst/>
            <a:gdLst/>
            <a:ahLst/>
            <a:cxnLst/>
            <a:rect l="l" t="t" r="r" b="b"/>
            <a:pathLst>
              <a:path w="9044140" h="8924839">
                <a:moveTo>
                  <a:pt x="0" y="0"/>
                </a:moveTo>
                <a:lnTo>
                  <a:pt x="9044140" y="0"/>
                </a:lnTo>
                <a:lnTo>
                  <a:pt x="9044140" y="8924839"/>
                </a:lnTo>
                <a:lnTo>
                  <a:pt x="0" y="8924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675780" y="4379731"/>
            <a:ext cx="7025018" cy="1718265"/>
            <a:chOff x="0" y="0"/>
            <a:chExt cx="9366691" cy="22910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66686" cy="2291023"/>
            </a:xfrm>
            <a:custGeom>
              <a:avLst/>
              <a:gdLst/>
              <a:ahLst/>
              <a:cxnLst/>
              <a:rect l="l" t="t" r="r" b="b"/>
              <a:pathLst>
                <a:path w="9366686" h="2291023">
                  <a:moveTo>
                    <a:pt x="0" y="0"/>
                  </a:moveTo>
                  <a:lnTo>
                    <a:pt x="9366686" y="0"/>
                  </a:lnTo>
                  <a:lnTo>
                    <a:pt x="9366686" y="2291023"/>
                  </a:lnTo>
                  <a:lnTo>
                    <a:pt x="0" y="22910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769" r="-8125" b="-814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9366691" cy="223387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0340"/>
                </a:lnSpc>
              </a:pPr>
              <a:r>
                <a:rPr lang="en-US" sz="9099" b="1" spc="-32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Related Works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595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</a:t>
                </a:r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367813" y="357648"/>
            <a:ext cx="1321775" cy="509978"/>
            <a:chOff x="0" y="0"/>
            <a:chExt cx="1762366" cy="6799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F32DE0-CC48-A1FE-1385-7A85274AD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02750"/>
              </p:ext>
            </p:extLst>
          </p:nvPr>
        </p:nvGraphicFramePr>
        <p:xfrm>
          <a:off x="838200" y="1181100"/>
          <a:ext cx="16154400" cy="8397028"/>
        </p:xfrm>
        <a:graphic>
          <a:graphicData uri="http://schemas.openxmlformats.org/drawingml/2006/table">
            <a:tbl>
              <a:tblPr/>
              <a:tblGrid>
                <a:gridCol w="3230880">
                  <a:extLst>
                    <a:ext uri="{9D8B030D-6E8A-4147-A177-3AD203B41FA5}">
                      <a16:colId xmlns:a16="http://schemas.microsoft.com/office/drawing/2014/main" val="3879451521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623929348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1367169460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488574886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3023160538"/>
                    </a:ext>
                  </a:extLst>
                </a:gridCol>
              </a:tblGrid>
              <a:tr h="17264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Feature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3200" b="1" i="0" dirty="0" err="1">
                          <a:solidFill>
                            <a:srgbClr val="000000"/>
                          </a:solidFill>
                          <a:effectLst/>
                        </a:rPr>
                        <a:t>InsulinSense</a:t>
                      </a:r>
                      <a:r>
                        <a:rPr lang="en-US" sz="3200" b="1" i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US" sz="3200" b="1" dirty="0">
                        <a:effectLst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3200" b="1" i="0" dirty="0">
                          <a:solidFill>
                            <a:srgbClr val="000000"/>
                          </a:solidFill>
                          <a:effectLst/>
                        </a:rPr>
                        <a:t>(Our Project)</a:t>
                      </a:r>
                      <a:endParaRPr lang="en-US" sz="3200" b="1" dirty="0">
                        <a:effectLst/>
                      </a:endParaRP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DIB-PREDICT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Diabetes Prediction &amp; Food Recommendation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 err="1">
                          <a:effectLst/>
                        </a:rPr>
                        <a:t>NutriSense</a:t>
                      </a:r>
                      <a:endParaRPr lang="en-US" sz="3200" b="1" dirty="0">
                        <a:effectLst/>
                      </a:endParaRP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903232"/>
                  </a:ext>
                </a:extLst>
              </a:tr>
              <a:tr h="1518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Prediction Type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Multi-level insulin resistance classification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Binary diabetes prediction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General diabetes prediction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 prediction model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024297"/>
                  </a:ext>
                </a:extLst>
              </a:tr>
              <a:tr h="9258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OCR Support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Yes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933625"/>
                  </a:ext>
                </a:extLst>
              </a:tr>
              <a:tr h="1071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Personalized Meal Plan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Yes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Limited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Limited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651470"/>
                  </a:ext>
                </a:extLst>
              </a:tr>
              <a:tr h="1071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Dashboard Monitoring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Yes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Yes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75247"/>
                  </a:ext>
                </a:extLst>
              </a:tr>
              <a:tr h="931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PDF Report Export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Yes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No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675443"/>
                  </a:ext>
                </a:extLst>
              </a:tr>
              <a:tr h="11526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Technology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Flask, React, Random Forest, OCR API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Python + ML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Python + ML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Mobile App + CGM</a:t>
                      </a:r>
                    </a:p>
                  </a:txBody>
                  <a:tcPr marL="58161" marR="58161" marT="29080" marB="2908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46594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8D191640-0AB5-824B-93D0-D3026E3C2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32864" y="9539145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5" b="-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2097888" y="0"/>
            <a:ext cx="9087526" cy="10287000"/>
          </a:xfrm>
          <a:custGeom>
            <a:avLst/>
            <a:gdLst/>
            <a:ahLst/>
            <a:cxnLst/>
            <a:rect l="l" t="t" r="r" b="b"/>
            <a:pathLst>
              <a:path w="9087526" h="10287000">
                <a:moveTo>
                  <a:pt x="0" y="0"/>
                </a:moveTo>
                <a:lnTo>
                  <a:pt x="9087527" y="0"/>
                </a:lnTo>
                <a:lnTo>
                  <a:pt x="90875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106888" y="310765"/>
            <a:ext cx="607795" cy="599776"/>
          </a:xfrm>
          <a:custGeom>
            <a:avLst/>
            <a:gdLst/>
            <a:ahLst/>
            <a:cxnLst/>
            <a:rect l="l" t="t" r="r" b="b"/>
            <a:pathLst>
              <a:path w="607795" h="599776">
                <a:moveTo>
                  <a:pt x="0" y="0"/>
                </a:moveTo>
                <a:lnTo>
                  <a:pt x="607795" y="0"/>
                </a:lnTo>
                <a:lnTo>
                  <a:pt x="607795" y="599776"/>
                </a:lnTo>
                <a:lnTo>
                  <a:pt x="0" y="59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917660" y="175799"/>
            <a:ext cx="854014" cy="852901"/>
          </a:xfrm>
          <a:custGeom>
            <a:avLst/>
            <a:gdLst/>
            <a:ahLst/>
            <a:cxnLst/>
            <a:rect l="l" t="t" r="r" b="b"/>
            <a:pathLst>
              <a:path w="854014" h="852901">
                <a:moveTo>
                  <a:pt x="0" y="0"/>
                </a:moveTo>
                <a:lnTo>
                  <a:pt x="854013" y="0"/>
                </a:lnTo>
                <a:lnTo>
                  <a:pt x="854013" y="852901"/>
                </a:lnTo>
                <a:lnTo>
                  <a:pt x="0" y="852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71823" y="310765"/>
            <a:ext cx="590296" cy="599776"/>
          </a:xfrm>
          <a:custGeom>
            <a:avLst/>
            <a:gdLst/>
            <a:ahLst/>
            <a:cxnLst/>
            <a:rect l="l" t="t" r="r" b="b"/>
            <a:pathLst>
              <a:path w="590296" h="599776">
                <a:moveTo>
                  <a:pt x="0" y="0"/>
                </a:moveTo>
                <a:lnTo>
                  <a:pt x="590297" y="0"/>
                </a:lnTo>
                <a:lnTo>
                  <a:pt x="590297" y="599776"/>
                </a:lnTo>
                <a:lnTo>
                  <a:pt x="0" y="5997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3554322" y="4384191"/>
            <a:ext cx="4255094" cy="1728878"/>
            <a:chOff x="0" y="0"/>
            <a:chExt cx="5673459" cy="23051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73463" cy="2305167"/>
            </a:xfrm>
            <a:custGeom>
              <a:avLst/>
              <a:gdLst/>
              <a:ahLst/>
              <a:cxnLst/>
              <a:rect l="l" t="t" r="r" b="b"/>
              <a:pathLst>
                <a:path w="5673463" h="2305167">
                  <a:moveTo>
                    <a:pt x="0" y="0"/>
                  </a:moveTo>
                  <a:lnTo>
                    <a:pt x="5673463" y="0"/>
                  </a:lnTo>
                  <a:lnTo>
                    <a:pt x="5673463" y="2305167"/>
                  </a:lnTo>
                  <a:lnTo>
                    <a:pt x="0" y="23051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4075" r="-36185" b="34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4300"/>
              <a:ext cx="5673459" cy="21908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9881"/>
                </a:lnSpc>
              </a:pPr>
              <a:r>
                <a:rPr lang="en-US" sz="9149" b="1" spc="-317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Features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367813" y="1154084"/>
            <a:ext cx="11933382" cy="889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AI-Based Insulin Resistance Prediction: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Predicts insulin resistance using clinical data and HOMA-IR analysis.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 Lab Report Upload: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Extracts medical values automatically from uploaded lab reports.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Personalized Meal Recommendations: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Generates low-glycemic meal plans tailored to the user’s condition.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Authentication System: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registration and login for personal account access.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Health Progress Tracking Dashboard: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Visualizes HOMA-IR trends, prediction history, and health improvements.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Insights &amp; Analytics: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smart interpretations and health recommendations.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History Storage: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Saves previous assessments for future comparison.</a:t>
            </a:r>
          </a:p>
          <a:p>
            <a:pPr marL="697372" lvl="1" indent="-348686" algn="l">
              <a:lnSpc>
                <a:spcPts val="4715"/>
              </a:lnSpc>
              <a:buFont typeface="Arial"/>
              <a:buChar char="•"/>
            </a:pPr>
            <a:r>
              <a:rPr lang="en-US" sz="3230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Report Export:</a:t>
            </a:r>
            <a:r>
              <a:rPr lang="en-US" sz="323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Allows users to download their health reports.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67813" y="283216"/>
            <a:ext cx="1321775" cy="509978"/>
            <a:chOff x="0" y="0"/>
            <a:chExt cx="1762366" cy="6799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2C46">
                <a:alpha val="100000"/>
              </a:srgbClr>
            </a:gs>
            <a:gs pos="100000">
              <a:srgbClr val="9B4169">
                <a:alpha val="100000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32864" y="9539145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5" b="-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591800" y="-2095500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1" y="0"/>
                </a:lnTo>
                <a:lnTo>
                  <a:pt x="14264831" y="14202795"/>
                </a:lnTo>
                <a:lnTo>
                  <a:pt x="0" y="14202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8</a:t>
                </a:r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3373375" y="4178747"/>
            <a:ext cx="4051704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58"/>
              </a:lnSpc>
              <a:spcBef>
                <a:spcPct val="0"/>
              </a:spcBef>
            </a:pPr>
            <a:r>
              <a:rPr lang="en-US" sz="11905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32BA9F3-A321-E755-134A-C87B96F88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35727"/>
              </p:ext>
            </p:extLst>
          </p:nvPr>
        </p:nvGraphicFramePr>
        <p:xfrm>
          <a:off x="741032" y="1117521"/>
          <a:ext cx="10765167" cy="8676590"/>
        </p:xfrm>
        <a:graphic>
          <a:graphicData uri="http://schemas.openxmlformats.org/drawingml/2006/table">
            <a:tbl>
              <a:tblPr/>
              <a:tblGrid>
                <a:gridCol w="2738795">
                  <a:extLst>
                    <a:ext uri="{9D8B030D-6E8A-4147-A177-3AD203B41FA5}">
                      <a16:colId xmlns:a16="http://schemas.microsoft.com/office/drawing/2014/main" val="3540546133"/>
                    </a:ext>
                  </a:extLst>
                </a:gridCol>
                <a:gridCol w="8026372">
                  <a:extLst>
                    <a:ext uri="{9D8B030D-6E8A-4147-A177-3AD203B41FA5}">
                      <a16:colId xmlns:a16="http://schemas.microsoft.com/office/drawing/2014/main" val="2461106905"/>
                    </a:ext>
                  </a:extLst>
                </a:gridCol>
              </a:tblGrid>
              <a:tr h="909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rgbClr val="262626"/>
                          </a:solidFill>
                          <a:effectLst/>
                        </a:rPr>
                        <a:t>Technology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solidFill>
                            <a:srgbClr val="262626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84319"/>
                  </a:ext>
                </a:extLst>
              </a:tr>
              <a:tr h="1423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Flask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as the backend server that will process API requests and enable communication between different system components. 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459074"/>
                  </a:ext>
                </a:extLst>
              </a:tr>
              <a:tr h="10951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React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to create an interactive front-end user interface for data entry and visualization. 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808599"/>
                  </a:ext>
                </a:extLst>
              </a:tr>
              <a:tr h="909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Python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as the major coding language.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13869"/>
                  </a:ext>
                </a:extLst>
              </a:tr>
              <a:tr h="1423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SQLite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as the database management system for storing various types of data such as account information, prediction history, meal plan and progress tracking. 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18335"/>
                  </a:ext>
                </a:extLst>
              </a:tr>
              <a:tr h="909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Scikit-learn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for building, training, and evaluating the machine learning prediction model. 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1715"/>
                  </a:ext>
                </a:extLst>
              </a:tr>
              <a:tr h="10951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OCR Technology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to automatically detect values from medical reports and limit the need for data entry by users. 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64702"/>
                  </a:ext>
                </a:extLst>
              </a:tr>
              <a:tr h="909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>
                          <a:effectLst/>
                        </a:rPr>
                        <a:t>Charting Library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Used to chart and visualize trends and progress of HOMA-IR.</a:t>
                      </a:r>
                    </a:p>
                  </a:txBody>
                  <a:tcPr marL="57129" marR="57129" marT="28564" marB="28564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01147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B3AAE43F-4C00-A215-66ED-EED68F42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46923" y="1598749"/>
            <a:ext cx="35688625" cy="47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32864" y="9539145"/>
            <a:ext cx="1321775" cy="509978"/>
            <a:chOff x="0" y="0"/>
            <a:chExt cx="1762366" cy="679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5" b="-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2249988" y="0"/>
            <a:ext cx="9087526" cy="10287000"/>
          </a:xfrm>
          <a:custGeom>
            <a:avLst/>
            <a:gdLst/>
            <a:ahLst/>
            <a:cxnLst/>
            <a:rect l="l" t="t" r="r" b="b"/>
            <a:pathLst>
              <a:path w="9087526" h="10287000">
                <a:moveTo>
                  <a:pt x="0" y="0"/>
                </a:moveTo>
                <a:lnTo>
                  <a:pt x="9087526" y="0"/>
                </a:lnTo>
                <a:lnTo>
                  <a:pt x="9087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71026" y="829077"/>
            <a:ext cx="1568834" cy="1548137"/>
          </a:xfrm>
          <a:custGeom>
            <a:avLst/>
            <a:gdLst/>
            <a:ahLst/>
            <a:cxnLst/>
            <a:rect l="l" t="t" r="r" b="b"/>
            <a:pathLst>
              <a:path w="1568834" h="1548137">
                <a:moveTo>
                  <a:pt x="0" y="0"/>
                </a:moveTo>
                <a:lnTo>
                  <a:pt x="1568834" y="0"/>
                </a:lnTo>
                <a:lnTo>
                  <a:pt x="1568834" y="1548137"/>
                </a:lnTo>
                <a:lnTo>
                  <a:pt x="0" y="1548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71026" y="3257318"/>
            <a:ext cx="1550160" cy="1548137"/>
          </a:xfrm>
          <a:custGeom>
            <a:avLst/>
            <a:gdLst/>
            <a:ahLst/>
            <a:cxnLst/>
            <a:rect l="l" t="t" r="r" b="b"/>
            <a:pathLst>
              <a:path w="1550160" h="1548137">
                <a:moveTo>
                  <a:pt x="0" y="0"/>
                </a:moveTo>
                <a:lnTo>
                  <a:pt x="1550159" y="0"/>
                </a:lnTo>
                <a:lnTo>
                  <a:pt x="1550159" y="1548137"/>
                </a:lnTo>
                <a:lnTo>
                  <a:pt x="0" y="1548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6196" y="8106193"/>
            <a:ext cx="1523664" cy="1548137"/>
          </a:xfrm>
          <a:custGeom>
            <a:avLst/>
            <a:gdLst/>
            <a:ahLst/>
            <a:cxnLst/>
            <a:rect l="l" t="t" r="r" b="b"/>
            <a:pathLst>
              <a:path w="1523664" h="1548137">
                <a:moveTo>
                  <a:pt x="0" y="0"/>
                </a:moveTo>
                <a:lnTo>
                  <a:pt x="1523664" y="0"/>
                </a:lnTo>
                <a:lnTo>
                  <a:pt x="1523664" y="1548137"/>
                </a:lnTo>
                <a:lnTo>
                  <a:pt x="0" y="1548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71026" y="5681755"/>
            <a:ext cx="1545875" cy="1548137"/>
          </a:xfrm>
          <a:custGeom>
            <a:avLst/>
            <a:gdLst/>
            <a:ahLst/>
            <a:cxnLst/>
            <a:rect l="l" t="t" r="r" b="b"/>
            <a:pathLst>
              <a:path w="1545875" h="1548137">
                <a:moveTo>
                  <a:pt x="0" y="0"/>
                </a:moveTo>
                <a:lnTo>
                  <a:pt x="1545875" y="0"/>
                </a:lnTo>
                <a:lnTo>
                  <a:pt x="1545875" y="1548138"/>
                </a:lnTo>
                <a:lnTo>
                  <a:pt x="0" y="1548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3631513" y="4049494"/>
            <a:ext cx="3961905" cy="1728878"/>
            <a:chOff x="0" y="0"/>
            <a:chExt cx="5282540" cy="23051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82543" cy="2305167"/>
            </a:xfrm>
            <a:custGeom>
              <a:avLst/>
              <a:gdLst/>
              <a:ahLst/>
              <a:cxnLst/>
              <a:rect l="l" t="t" r="r" b="b"/>
              <a:pathLst>
                <a:path w="5282543" h="2305167">
                  <a:moveTo>
                    <a:pt x="0" y="0"/>
                  </a:moveTo>
                  <a:lnTo>
                    <a:pt x="5282543" y="0"/>
                  </a:lnTo>
                  <a:lnTo>
                    <a:pt x="5282543" y="2305167"/>
                  </a:lnTo>
                  <a:lnTo>
                    <a:pt x="0" y="23051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4075" r="-46263" b="34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300"/>
              <a:ext cx="5282540" cy="21908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9881"/>
                </a:lnSpc>
              </a:pPr>
              <a:r>
                <a:rPr lang="en-US" sz="9149" b="1" spc="-317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Results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9</a:t>
                </a: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2508126" y="1292640"/>
            <a:ext cx="918388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Functional end-to-end web application developed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08126" y="3720881"/>
            <a:ext cx="535965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93% ML prediction accuracy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66119" y="5633187"/>
            <a:ext cx="9125893" cy="163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Reduced manual data entry through automated OCR extractionPersonalized meal recommendations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66119" y="8569775"/>
            <a:ext cx="6998932" cy="5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Interactive health tracking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983" y="876177"/>
            <a:ext cx="1318919" cy="1133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3"/>
              </a:lnSpc>
              <a:spcBef>
                <a:spcPct val="0"/>
              </a:spcBef>
            </a:pPr>
            <a:r>
              <a:rPr lang="en-US" sz="65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6217" y="5986555"/>
            <a:ext cx="418452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8835" y="8339251"/>
            <a:ext cx="418386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4504" y="3411300"/>
            <a:ext cx="1318919" cy="1133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3"/>
              </a:lnSpc>
              <a:spcBef>
                <a:spcPct val="0"/>
              </a:spcBef>
            </a:pPr>
            <a:r>
              <a:rPr lang="en-US" sz="650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6253" y="252031"/>
            <a:ext cx="1321775" cy="509978"/>
            <a:chOff x="0" y="0"/>
            <a:chExt cx="1762366" cy="6799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-173436" y="1722269"/>
            <a:ext cx="18634872" cy="8564731"/>
          </a:xfrm>
          <a:custGeom>
            <a:avLst/>
            <a:gdLst/>
            <a:ahLst/>
            <a:cxnLst/>
            <a:rect l="l" t="t" r="r" b="b"/>
            <a:pathLst>
              <a:path w="18634872" h="8564731">
                <a:moveTo>
                  <a:pt x="0" y="0"/>
                </a:moveTo>
                <a:lnTo>
                  <a:pt x="18634872" y="0"/>
                </a:lnTo>
                <a:lnTo>
                  <a:pt x="18634872" y="8564731"/>
                </a:lnTo>
                <a:lnTo>
                  <a:pt x="0" y="8564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4" b="-2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833388" y="308633"/>
            <a:ext cx="4672812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87"/>
              </a:lnSpc>
              <a:spcBef>
                <a:spcPct val="0"/>
              </a:spcBef>
            </a:pPr>
            <a:r>
              <a:rPr lang="en-US" sz="6406" b="1" u="none" strike="noStrike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 PAGE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5446428" y="272601"/>
            <a:ext cx="7278972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REGISTRATION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1793719"/>
            <a:ext cx="18288000" cy="8493281"/>
          </a:xfrm>
          <a:custGeom>
            <a:avLst/>
            <a:gdLst/>
            <a:ahLst/>
            <a:cxnLst/>
            <a:rect l="l" t="t" r="r" b="b"/>
            <a:pathLst>
              <a:path w="18288000" h="8493281">
                <a:moveTo>
                  <a:pt x="0" y="0"/>
                </a:moveTo>
                <a:lnTo>
                  <a:pt x="18288000" y="0"/>
                </a:lnTo>
                <a:lnTo>
                  <a:pt x="18288000" y="8493281"/>
                </a:lnTo>
                <a:lnTo>
                  <a:pt x="0" y="8493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67" t="-876" r="-5206" b="-9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11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0" y="1985627"/>
            <a:ext cx="18288000" cy="8301373"/>
          </a:xfrm>
          <a:custGeom>
            <a:avLst/>
            <a:gdLst/>
            <a:ahLst/>
            <a:cxnLst/>
            <a:rect l="l" t="t" r="r" b="b"/>
            <a:pathLst>
              <a:path w="18288000" h="8301373">
                <a:moveTo>
                  <a:pt x="0" y="0"/>
                </a:moveTo>
                <a:lnTo>
                  <a:pt x="18288000" y="0"/>
                </a:lnTo>
                <a:lnTo>
                  <a:pt x="18288000" y="8301373"/>
                </a:lnTo>
                <a:lnTo>
                  <a:pt x="0" y="8301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678" b="-111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929882" y="416729"/>
            <a:ext cx="6490718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 LAB UPLOAD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14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0" y="1722896"/>
            <a:ext cx="18288000" cy="8564104"/>
          </a:xfrm>
          <a:custGeom>
            <a:avLst/>
            <a:gdLst/>
            <a:ahLst/>
            <a:cxnLst/>
            <a:rect l="l" t="t" r="r" b="b"/>
            <a:pathLst>
              <a:path w="18288000" h="8564104">
                <a:moveTo>
                  <a:pt x="0" y="0"/>
                </a:moveTo>
                <a:lnTo>
                  <a:pt x="18288000" y="0"/>
                </a:lnTo>
                <a:lnTo>
                  <a:pt x="18288000" y="8564104"/>
                </a:lnTo>
                <a:lnTo>
                  <a:pt x="0" y="8564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868" b="-82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840108" y="416729"/>
            <a:ext cx="6428092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PAGE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12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-74489" y="2083456"/>
            <a:ext cx="18436979" cy="8379109"/>
          </a:xfrm>
          <a:custGeom>
            <a:avLst/>
            <a:gdLst/>
            <a:ahLst/>
            <a:cxnLst/>
            <a:rect l="l" t="t" r="r" b="b"/>
            <a:pathLst>
              <a:path w="18436979" h="8379109">
                <a:moveTo>
                  <a:pt x="0" y="0"/>
                </a:moveTo>
                <a:lnTo>
                  <a:pt x="18436978" y="0"/>
                </a:lnTo>
                <a:lnTo>
                  <a:pt x="18436978" y="8379109"/>
                </a:lnTo>
                <a:lnTo>
                  <a:pt x="0" y="8379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395" b="-113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840108" y="416729"/>
            <a:ext cx="6504292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PAGE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13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0" y="1942639"/>
            <a:ext cx="18288000" cy="8344361"/>
          </a:xfrm>
          <a:custGeom>
            <a:avLst/>
            <a:gdLst/>
            <a:ahLst/>
            <a:cxnLst/>
            <a:rect l="l" t="t" r="r" b="b"/>
            <a:pathLst>
              <a:path w="18288000" h="8344361">
                <a:moveTo>
                  <a:pt x="0" y="0"/>
                </a:moveTo>
                <a:lnTo>
                  <a:pt x="18288000" y="0"/>
                </a:lnTo>
                <a:lnTo>
                  <a:pt x="18288000" y="8344361"/>
                </a:lnTo>
                <a:lnTo>
                  <a:pt x="0" y="8344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91" r="-5591" b="-154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438922" y="581997"/>
            <a:ext cx="8920043" cy="90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6410" b="1" spc="-222">
                <a:solidFill>
                  <a:srgbClr val="262626"/>
                </a:solidFill>
                <a:latin typeface="PT Sans Bold"/>
                <a:ea typeface="PT Sans Bold"/>
                <a:cs typeface="PT Sans Bold"/>
                <a:sym typeface="PT Sans Bold"/>
              </a:rPr>
              <a:t>PROFILE MANAGEMENT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15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2C46">
                <a:alpha val="100000"/>
              </a:srgbClr>
            </a:gs>
            <a:gs pos="100000">
              <a:srgbClr val="9B4169">
                <a:alpha val="100000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1750" y="-2091352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0" y="0"/>
                </a:lnTo>
                <a:lnTo>
                  <a:pt x="14264830" y="14202794"/>
                </a:lnTo>
                <a:lnTo>
                  <a:pt x="0" y="1420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614301"/>
            <a:ext cx="9044140" cy="8924839"/>
          </a:xfrm>
          <a:custGeom>
            <a:avLst/>
            <a:gdLst/>
            <a:ahLst/>
            <a:cxnLst/>
            <a:rect l="l" t="t" r="r" b="b"/>
            <a:pathLst>
              <a:path w="9044140" h="8924839">
                <a:moveTo>
                  <a:pt x="0" y="0"/>
                </a:moveTo>
                <a:lnTo>
                  <a:pt x="9044140" y="0"/>
                </a:lnTo>
                <a:lnTo>
                  <a:pt x="9044140" y="8924839"/>
                </a:lnTo>
                <a:lnTo>
                  <a:pt x="0" y="8924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767123" y="4299953"/>
            <a:ext cx="3509894" cy="1553535"/>
            <a:chOff x="0" y="0"/>
            <a:chExt cx="11654073" cy="51582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54066" cy="5158280"/>
            </a:xfrm>
            <a:custGeom>
              <a:avLst/>
              <a:gdLst/>
              <a:ahLst/>
              <a:cxnLst/>
              <a:rect l="l" t="t" r="r" b="b"/>
              <a:pathLst>
                <a:path w="11654066" h="5158280">
                  <a:moveTo>
                    <a:pt x="0" y="0"/>
                  </a:moveTo>
                  <a:lnTo>
                    <a:pt x="11654066" y="0"/>
                  </a:lnTo>
                  <a:lnTo>
                    <a:pt x="11654066" y="5158280"/>
                  </a:lnTo>
                  <a:lnTo>
                    <a:pt x="0" y="5158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36" r="13096" b="194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11654073" cy="511065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317"/>
                </a:lnSpc>
              </a:pPr>
              <a:r>
                <a:rPr lang="en-US" sz="8199" b="1" spc="-29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Running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16</a:t>
                </a:r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11371536" y="3203220"/>
            <a:ext cx="6653878" cy="407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3366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following screenshots demonstrate the complete workflow of InsulinSense, from user input to prediction, personalized recommendations, and progress tracking.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67813" y="461572"/>
            <a:ext cx="1321775" cy="509978"/>
            <a:chOff x="0" y="0"/>
            <a:chExt cx="1762366" cy="6799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6576252" y="416729"/>
            <a:ext cx="5006147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OCR UPLOAD</a:t>
            </a:r>
          </a:p>
        </p:txBody>
      </p:sp>
      <p:sp>
        <p:nvSpPr>
          <p:cNvPr id="12" name="Freeform 12"/>
          <p:cNvSpPr/>
          <p:nvPr/>
        </p:nvSpPr>
        <p:spPr>
          <a:xfrm>
            <a:off x="-428625" y="1740590"/>
            <a:ext cx="18716625" cy="8546410"/>
          </a:xfrm>
          <a:custGeom>
            <a:avLst/>
            <a:gdLst/>
            <a:ahLst/>
            <a:cxnLst/>
            <a:rect l="l" t="t" r="r" b="b"/>
            <a:pathLst>
              <a:path w="18716625" h="8546410">
                <a:moveTo>
                  <a:pt x="0" y="0"/>
                </a:moveTo>
                <a:lnTo>
                  <a:pt x="18716625" y="0"/>
                </a:lnTo>
                <a:lnTo>
                  <a:pt x="18716625" y="8546410"/>
                </a:lnTo>
                <a:lnTo>
                  <a:pt x="0" y="8546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200" r="-4367" b="-143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17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0" y="1690176"/>
            <a:ext cx="18288000" cy="8596824"/>
          </a:xfrm>
          <a:custGeom>
            <a:avLst/>
            <a:gdLst/>
            <a:ahLst/>
            <a:cxnLst/>
            <a:rect l="l" t="t" r="r" b="b"/>
            <a:pathLst>
              <a:path w="18288000" h="8596824">
                <a:moveTo>
                  <a:pt x="0" y="0"/>
                </a:moveTo>
                <a:lnTo>
                  <a:pt x="18288000" y="0"/>
                </a:lnTo>
                <a:lnTo>
                  <a:pt x="18288000" y="8596824"/>
                </a:lnTo>
                <a:lnTo>
                  <a:pt x="0" y="8596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016" b="-75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503281" y="416729"/>
            <a:ext cx="6993519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RESULT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18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0" y="1787438"/>
            <a:ext cx="18288000" cy="8499562"/>
          </a:xfrm>
          <a:custGeom>
            <a:avLst/>
            <a:gdLst/>
            <a:ahLst/>
            <a:cxnLst/>
            <a:rect l="l" t="t" r="r" b="b"/>
            <a:pathLst>
              <a:path w="18288000" h="8499562">
                <a:moveTo>
                  <a:pt x="0" y="0"/>
                </a:moveTo>
                <a:lnTo>
                  <a:pt x="18288000" y="0"/>
                </a:lnTo>
                <a:lnTo>
                  <a:pt x="18288000" y="8499562"/>
                </a:lnTo>
                <a:lnTo>
                  <a:pt x="0" y="8499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662" b="-83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438922" y="416729"/>
            <a:ext cx="9353278" cy="95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7"/>
              </a:lnSpc>
              <a:spcBef>
                <a:spcPct val="0"/>
              </a:spcBef>
            </a:pPr>
            <a:r>
              <a:rPr lang="en-US" sz="6406" b="1" dirty="0">
                <a:solidFill>
                  <a:srgbClr val="2626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MEAL RECOMMENDATION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2400" y="1939838"/>
            <a:ext cx="18288000" cy="8499562"/>
          </a:xfrm>
          <a:custGeom>
            <a:avLst/>
            <a:gdLst/>
            <a:ahLst/>
            <a:cxnLst/>
            <a:rect l="l" t="t" r="r" b="b"/>
            <a:pathLst>
              <a:path w="18288000" h="8499562">
                <a:moveTo>
                  <a:pt x="0" y="0"/>
                </a:moveTo>
                <a:lnTo>
                  <a:pt x="18288000" y="0"/>
                </a:lnTo>
                <a:lnTo>
                  <a:pt x="18288000" y="8499562"/>
                </a:lnTo>
                <a:lnTo>
                  <a:pt x="0" y="8499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662" b="-83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19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67411" y="3256426"/>
            <a:ext cx="5794829" cy="1887074"/>
            <a:chOff x="0" y="0"/>
            <a:chExt cx="7726439" cy="2516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26442" cy="2516104"/>
            </a:xfrm>
            <a:custGeom>
              <a:avLst/>
              <a:gdLst/>
              <a:ahLst/>
              <a:cxnLst/>
              <a:rect l="l" t="t" r="r" b="b"/>
              <a:pathLst>
                <a:path w="7726442" h="2516104">
                  <a:moveTo>
                    <a:pt x="0" y="0"/>
                  </a:moveTo>
                  <a:lnTo>
                    <a:pt x="7726442" y="0"/>
                  </a:lnTo>
                  <a:lnTo>
                    <a:pt x="7726442" y="2516104"/>
                  </a:lnTo>
                  <a:lnTo>
                    <a:pt x="0" y="25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34" b="-98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7726439" cy="24398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Emphasize your </a:t>
              </a:r>
            </a:p>
            <a:p>
              <a:pPr algn="r">
                <a:lnSpc>
                  <a:spcPts val="7290"/>
                </a:lnSpc>
              </a:pPr>
              <a:r>
                <a:rPr lang="en-US" sz="6750" b="1" spc="-23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main benefit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93418" y="9578130"/>
            <a:ext cx="431997" cy="431997"/>
            <a:chOff x="0" y="0"/>
            <a:chExt cx="575996" cy="57599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75945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5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5"/>
                    </a:lnTo>
                    <a:lnTo>
                      <a:pt x="0" y="57594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575996" cy="575996"/>
              <a:chOff x="0" y="0"/>
              <a:chExt cx="575996" cy="5759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76000" cy="576000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0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0"/>
                    </a:lnTo>
                    <a:lnTo>
                      <a:pt x="0" y="576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75996" cy="6140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09956" y="1559145"/>
            <a:ext cx="18068087" cy="8905217"/>
          </a:xfrm>
          <a:custGeom>
            <a:avLst/>
            <a:gdLst/>
            <a:ahLst/>
            <a:cxnLst/>
            <a:rect l="l" t="t" r="r" b="b"/>
            <a:pathLst>
              <a:path w="18068087" h="8905217">
                <a:moveTo>
                  <a:pt x="0" y="0"/>
                </a:moveTo>
                <a:lnTo>
                  <a:pt x="18068088" y="0"/>
                </a:lnTo>
                <a:lnTo>
                  <a:pt x="18068088" y="8905217"/>
                </a:lnTo>
                <a:lnTo>
                  <a:pt x="0" y="8905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92" t="-1056" r="-5864" b="-30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081734" y="420072"/>
            <a:ext cx="9277231" cy="90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2"/>
              </a:lnSpc>
              <a:spcBef>
                <a:spcPct val="0"/>
              </a:spcBef>
            </a:pPr>
            <a:r>
              <a:rPr lang="en-US" sz="6410" b="1" spc="-222">
                <a:solidFill>
                  <a:srgbClr val="262626"/>
                </a:solidFill>
                <a:latin typeface="PT Sans Bold"/>
                <a:ea typeface="PT Sans Bold"/>
                <a:cs typeface="PT Sans Bold"/>
                <a:sym typeface="PT Sans Bold"/>
              </a:rPr>
              <a:t>ANALYTICS DASHBOARD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20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67995" y="5366966"/>
            <a:ext cx="3895022" cy="3900719"/>
          </a:xfrm>
          <a:custGeom>
            <a:avLst/>
            <a:gdLst/>
            <a:ahLst/>
            <a:cxnLst/>
            <a:rect l="l" t="t" r="r" b="b"/>
            <a:pathLst>
              <a:path w="3895022" h="3900719">
                <a:moveTo>
                  <a:pt x="0" y="0"/>
                </a:moveTo>
                <a:lnTo>
                  <a:pt x="3895022" y="0"/>
                </a:lnTo>
                <a:lnTo>
                  <a:pt x="3895022" y="3900719"/>
                </a:lnTo>
                <a:lnTo>
                  <a:pt x="0" y="3900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337438" y="6124512"/>
            <a:ext cx="4464932" cy="4471463"/>
          </a:xfrm>
          <a:custGeom>
            <a:avLst/>
            <a:gdLst/>
            <a:ahLst/>
            <a:cxnLst/>
            <a:rect l="l" t="t" r="r" b="b"/>
            <a:pathLst>
              <a:path w="4464932" h="4471463">
                <a:moveTo>
                  <a:pt x="0" y="0"/>
                </a:moveTo>
                <a:lnTo>
                  <a:pt x="4464932" y="0"/>
                </a:lnTo>
                <a:lnTo>
                  <a:pt x="4464932" y="4471463"/>
                </a:lnTo>
                <a:lnTo>
                  <a:pt x="0" y="44714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31110" y="3986791"/>
            <a:ext cx="5197423" cy="5280894"/>
          </a:xfrm>
          <a:custGeom>
            <a:avLst/>
            <a:gdLst/>
            <a:ahLst/>
            <a:cxnLst/>
            <a:rect l="l" t="t" r="r" b="b"/>
            <a:pathLst>
              <a:path w="5197423" h="5280894">
                <a:moveTo>
                  <a:pt x="0" y="0"/>
                </a:moveTo>
                <a:lnTo>
                  <a:pt x="5197423" y="0"/>
                </a:lnTo>
                <a:lnTo>
                  <a:pt x="5197423" y="5280894"/>
                </a:lnTo>
                <a:lnTo>
                  <a:pt x="0" y="5280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4343012">
            <a:off x="285148" y="257333"/>
            <a:ext cx="5691923" cy="5616841"/>
          </a:xfrm>
          <a:custGeom>
            <a:avLst/>
            <a:gdLst/>
            <a:ahLst/>
            <a:cxnLst/>
            <a:rect l="l" t="t" r="r" b="b"/>
            <a:pathLst>
              <a:path w="5691923" h="5616841">
                <a:moveTo>
                  <a:pt x="0" y="0"/>
                </a:moveTo>
                <a:lnTo>
                  <a:pt x="5691924" y="0"/>
                </a:lnTo>
                <a:lnTo>
                  <a:pt x="5691924" y="5616841"/>
                </a:lnTo>
                <a:lnTo>
                  <a:pt x="0" y="5616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7588774">
            <a:off x="3917119" y="3462715"/>
            <a:ext cx="1027938" cy="2990513"/>
          </a:xfrm>
          <a:custGeom>
            <a:avLst/>
            <a:gdLst/>
            <a:ahLst/>
            <a:cxnLst/>
            <a:rect l="l" t="t" r="r" b="b"/>
            <a:pathLst>
              <a:path w="1027938" h="2990513">
                <a:moveTo>
                  <a:pt x="0" y="0"/>
                </a:moveTo>
                <a:lnTo>
                  <a:pt x="1027938" y="0"/>
                </a:lnTo>
                <a:lnTo>
                  <a:pt x="1027938" y="2990513"/>
                </a:lnTo>
                <a:lnTo>
                  <a:pt x="0" y="2990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053500" y="7943824"/>
            <a:ext cx="2996182" cy="146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8"/>
              </a:lnSpc>
              <a:spcBef>
                <a:spcPct val="0"/>
              </a:spcBef>
            </a:pPr>
            <a:r>
              <a:rPr lang="en-US" sz="309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Support tool only, not a clinical diagnostic system</a:t>
            </a:r>
          </a:p>
        </p:txBody>
      </p:sp>
      <p:sp>
        <p:nvSpPr>
          <p:cNvPr id="8" name="Freeform 8"/>
          <p:cNvSpPr/>
          <p:nvPr/>
        </p:nvSpPr>
        <p:spPr>
          <a:xfrm rot="9844225">
            <a:off x="11172411" y="6813430"/>
            <a:ext cx="553071" cy="2037008"/>
          </a:xfrm>
          <a:custGeom>
            <a:avLst/>
            <a:gdLst/>
            <a:ahLst/>
            <a:cxnLst/>
            <a:rect l="l" t="t" r="r" b="b"/>
            <a:pathLst>
              <a:path w="553071" h="2037008">
                <a:moveTo>
                  <a:pt x="0" y="0"/>
                </a:moveTo>
                <a:lnTo>
                  <a:pt x="553070" y="0"/>
                </a:lnTo>
                <a:lnTo>
                  <a:pt x="553070" y="2037008"/>
                </a:lnTo>
                <a:lnTo>
                  <a:pt x="0" y="2037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6215339" y="867462"/>
            <a:ext cx="10915167" cy="1584639"/>
            <a:chOff x="0" y="0"/>
            <a:chExt cx="14553557" cy="21128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53557" cy="2112859"/>
            </a:xfrm>
            <a:custGeom>
              <a:avLst/>
              <a:gdLst/>
              <a:ahLst/>
              <a:cxnLst/>
              <a:rect l="l" t="t" r="r" b="b"/>
              <a:pathLst>
                <a:path w="14553557" h="2112859">
                  <a:moveTo>
                    <a:pt x="0" y="0"/>
                  </a:moveTo>
                  <a:lnTo>
                    <a:pt x="14553557" y="0"/>
                  </a:lnTo>
                  <a:lnTo>
                    <a:pt x="14553557" y="2112859"/>
                  </a:lnTo>
                  <a:lnTo>
                    <a:pt x="0" y="211285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8512" r="-55689" b="-1294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0"/>
              <a:ext cx="14553557" cy="20176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883"/>
                </a:lnSpc>
              </a:pPr>
              <a:r>
                <a:rPr lang="en-US" sz="7299" b="1" spc="-352">
                  <a:solidFill>
                    <a:srgbClr val="262626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Key Challenges &amp; Limitations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595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21</a:t>
                </a: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4076909" y="6179369"/>
            <a:ext cx="3305824" cy="157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0"/>
              </a:lnSpc>
              <a:spcBef>
                <a:spcPct val="0"/>
              </a:spcBef>
            </a:pPr>
            <a:r>
              <a:rPr lang="en-US" sz="3308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OCR accuracy varies with report quality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6699" y="2120291"/>
            <a:ext cx="4108821" cy="158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5"/>
              </a:lnSpc>
              <a:spcBef>
                <a:spcPct val="0"/>
              </a:spcBef>
            </a:pPr>
            <a:r>
              <a:rPr lang="en-US" sz="333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trained on public dataset, not real clinical hospital data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2798" y="6825816"/>
            <a:ext cx="3085416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Complex multi-module system integration</a:t>
            </a:r>
          </a:p>
        </p:txBody>
      </p:sp>
      <p:sp>
        <p:nvSpPr>
          <p:cNvPr id="21" name="Freeform 21"/>
          <p:cNvSpPr/>
          <p:nvPr/>
        </p:nvSpPr>
        <p:spPr>
          <a:xfrm rot="-9525869">
            <a:off x="7538278" y="6459994"/>
            <a:ext cx="649554" cy="2392363"/>
          </a:xfrm>
          <a:custGeom>
            <a:avLst/>
            <a:gdLst/>
            <a:ahLst/>
            <a:cxnLst/>
            <a:rect l="l" t="t" r="r" b="b"/>
            <a:pathLst>
              <a:path w="649554" h="2392363">
                <a:moveTo>
                  <a:pt x="0" y="0"/>
                </a:moveTo>
                <a:lnTo>
                  <a:pt x="649554" y="0"/>
                </a:lnTo>
                <a:lnTo>
                  <a:pt x="649554" y="2392363"/>
                </a:lnTo>
                <a:lnTo>
                  <a:pt x="0" y="2392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831892" y="3442702"/>
            <a:ext cx="3494083" cy="3499194"/>
          </a:xfrm>
          <a:custGeom>
            <a:avLst/>
            <a:gdLst/>
            <a:ahLst/>
            <a:cxnLst/>
            <a:rect l="l" t="t" r="r" b="b"/>
            <a:pathLst>
              <a:path w="3494083" h="3499194">
                <a:moveTo>
                  <a:pt x="0" y="0"/>
                </a:moveTo>
                <a:lnTo>
                  <a:pt x="3494083" y="0"/>
                </a:lnTo>
                <a:lnTo>
                  <a:pt x="3494083" y="3499194"/>
                </a:lnTo>
                <a:lnTo>
                  <a:pt x="0" y="3499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4027361" y="4725574"/>
            <a:ext cx="3103146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Meal planning uses rule-based logic</a:t>
            </a:r>
          </a:p>
        </p:txBody>
      </p:sp>
      <p:sp>
        <p:nvSpPr>
          <p:cNvPr id="24" name="Freeform 24"/>
          <p:cNvSpPr/>
          <p:nvPr/>
        </p:nvSpPr>
        <p:spPr>
          <a:xfrm rot="8639002">
            <a:off x="14170230" y="5400286"/>
            <a:ext cx="425262" cy="1566278"/>
          </a:xfrm>
          <a:custGeom>
            <a:avLst/>
            <a:gdLst/>
            <a:ahLst/>
            <a:cxnLst/>
            <a:rect l="l" t="t" r="r" b="b"/>
            <a:pathLst>
              <a:path w="425262" h="1566278">
                <a:moveTo>
                  <a:pt x="0" y="0"/>
                </a:moveTo>
                <a:lnTo>
                  <a:pt x="425262" y="0"/>
                </a:lnTo>
                <a:lnTo>
                  <a:pt x="425262" y="1566278"/>
                </a:lnTo>
                <a:lnTo>
                  <a:pt x="0" y="15662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212994" y="359229"/>
            <a:ext cx="1321775" cy="509978"/>
            <a:chOff x="0" y="0"/>
            <a:chExt cx="1762366" cy="6799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359508" y="526758"/>
            <a:ext cx="1423317" cy="1314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3"/>
              </a:lnSpc>
              <a:spcBef>
                <a:spcPct val="0"/>
              </a:spcBef>
            </a:pPr>
            <a:r>
              <a:rPr lang="en-US" sz="75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03888" y="4810592"/>
            <a:ext cx="1423317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3"/>
              </a:lnSpc>
              <a:spcBef>
                <a:spcPct val="0"/>
              </a:spcBef>
            </a:pPr>
            <a:r>
              <a:rPr lang="en-US" sz="65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11357" y="6570088"/>
            <a:ext cx="1423317" cy="104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3"/>
              </a:lnSpc>
              <a:spcBef>
                <a:spcPct val="0"/>
              </a:spcBef>
            </a:pPr>
            <a:r>
              <a:rPr lang="en-US" sz="60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92895" y="5626232"/>
            <a:ext cx="1423317" cy="104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3"/>
              </a:lnSpc>
              <a:spcBef>
                <a:spcPct val="0"/>
              </a:spcBef>
            </a:pPr>
            <a:r>
              <a:rPr lang="en-US" sz="60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67275" y="3582574"/>
            <a:ext cx="1423317" cy="97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557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8546" y="3495758"/>
            <a:ext cx="4452804" cy="4459318"/>
          </a:xfrm>
          <a:custGeom>
            <a:avLst/>
            <a:gdLst/>
            <a:ahLst/>
            <a:cxnLst/>
            <a:rect l="l" t="t" r="r" b="b"/>
            <a:pathLst>
              <a:path w="4452804" h="4459318">
                <a:moveTo>
                  <a:pt x="0" y="0"/>
                </a:moveTo>
                <a:lnTo>
                  <a:pt x="4452804" y="0"/>
                </a:lnTo>
                <a:lnTo>
                  <a:pt x="4452804" y="4459317"/>
                </a:lnTo>
                <a:lnTo>
                  <a:pt x="0" y="4459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857304" y="3142585"/>
            <a:ext cx="4875762" cy="4882894"/>
          </a:xfrm>
          <a:custGeom>
            <a:avLst/>
            <a:gdLst/>
            <a:ahLst/>
            <a:cxnLst/>
            <a:rect l="l" t="t" r="r" b="b"/>
            <a:pathLst>
              <a:path w="4875762" h="4882894">
                <a:moveTo>
                  <a:pt x="0" y="0"/>
                </a:moveTo>
                <a:lnTo>
                  <a:pt x="4875762" y="0"/>
                </a:lnTo>
                <a:lnTo>
                  <a:pt x="4875762" y="4882894"/>
                </a:lnTo>
                <a:lnTo>
                  <a:pt x="0" y="4882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923234" y="2781895"/>
            <a:ext cx="5719677" cy="5811536"/>
          </a:xfrm>
          <a:custGeom>
            <a:avLst/>
            <a:gdLst/>
            <a:ahLst/>
            <a:cxnLst/>
            <a:rect l="l" t="t" r="r" b="b"/>
            <a:pathLst>
              <a:path w="5719677" h="5811536">
                <a:moveTo>
                  <a:pt x="0" y="0"/>
                </a:moveTo>
                <a:lnTo>
                  <a:pt x="5719677" y="0"/>
                </a:lnTo>
                <a:lnTo>
                  <a:pt x="5719677" y="5811536"/>
                </a:lnTo>
                <a:lnTo>
                  <a:pt x="0" y="5811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899474" y="2214820"/>
            <a:ext cx="7040999" cy="6948121"/>
          </a:xfrm>
          <a:custGeom>
            <a:avLst/>
            <a:gdLst/>
            <a:ahLst/>
            <a:cxnLst/>
            <a:rect l="l" t="t" r="r" b="b"/>
            <a:pathLst>
              <a:path w="7040999" h="6948121">
                <a:moveTo>
                  <a:pt x="0" y="0"/>
                </a:moveTo>
                <a:lnTo>
                  <a:pt x="7040999" y="0"/>
                </a:lnTo>
                <a:lnTo>
                  <a:pt x="7040999" y="6948120"/>
                </a:lnTo>
                <a:lnTo>
                  <a:pt x="0" y="6948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098837" y="3959804"/>
            <a:ext cx="1187844" cy="3455718"/>
          </a:xfrm>
          <a:custGeom>
            <a:avLst/>
            <a:gdLst/>
            <a:ahLst/>
            <a:cxnLst/>
            <a:rect l="l" t="t" r="r" b="b"/>
            <a:pathLst>
              <a:path w="1187844" h="3455718">
                <a:moveTo>
                  <a:pt x="0" y="0"/>
                </a:moveTo>
                <a:lnTo>
                  <a:pt x="1187844" y="0"/>
                </a:lnTo>
                <a:lnTo>
                  <a:pt x="1187844" y="3455718"/>
                </a:lnTo>
                <a:lnTo>
                  <a:pt x="0" y="3455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42911" y="4593588"/>
            <a:ext cx="3271868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sz="305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Expanding the system to support additional metabolic health conditions.</a:t>
            </a:r>
          </a:p>
        </p:txBody>
      </p:sp>
      <p:sp>
        <p:nvSpPr>
          <p:cNvPr id="8" name="Freeform 8"/>
          <p:cNvSpPr/>
          <p:nvPr/>
        </p:nvSpPr>
        <p:spPr>
          <a:xfrm>
            <a:off x="9967950" y="4322040"/>
            <a:ext cx="674961" cy="2485939"/>
          </a:xfrm>
          <a:custGeom>
            <a:avLst/>
            <a:gdLst/>
            <a:ahLst/>
            <a:cxnLst/>
            <a:rect l="l" t="t" r="r" b="b"/>
            <a:pathLst>
              <a:path w="674961" h="2485939">
                <a:moveTo>
                  <a:pt x="0" y="0"/>
                </a:moveTo>
                <a:lnTo>
                  <a:pt x="674961" y="0"/>
                </a:lnTo>
                <a:lnTo>
                  <a:pt x="674961" y="2485939"/>
                </a:lnTo>
                <a:lnTo>
                  <a:pt x="0" y="2485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2784816" y="341466"/>
            <a:ext cx="13190012" cy="1701903"/>
            <a:chOff x="0" y="0"/>
            <a:chExt cx="17586683" cy="22692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86683" cy="2269211"/>
            </a:xfrm>
            <a:custGeom>
              <a:avLst/>
              <a:gdLst/>
              <a:ahLst/>
              <a:cxnLst/>
              <a:rect l="l" t="t" r="r" b="b"/>
              <a:pathLst>
                <a:path w="17586683" h="2269211">
                  <a:moveTo>
                    <a:pt x="0" y="0"/>
                  </a:moveTo>
                  <a:lnTo>
                    <a:pt x="17586683" y="0"/>
                  </a:lnTo>
                  <a:lnTo>
                    <a:pt x="17586683" y="2269211"/>
                  </a:lnTo>
                  <a:lnTo>
                    <a:pt x="0" y="22692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75523" r="-28838" b="-1135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0"/>
              <a:ext cx="17586683" cy="21739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19"/>
                </a:lnSpc>
              </a:pPr>
              <a:r>
                <a:rPr lang="en-US" sz="8999" b="1" spc="-434">
                  <a:solidFill>
                    <a:srgbClr val="262626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Future Work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593418" y="9578130"/>
            <a:ext cx="431997" cy="432000"/>
            <a:chOff x="0" y="0"/>
            <a:chExt cx="575996" cy="576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75945" cy="575949"/>
              </a:xfrm>
              <a:custGeom>
                <a:avLst/>
                <a:gdLst/>
                <a:ahLst/>
                <a:cxnLst/>
                <a:rect l="l" t="t" r="r" b="b"/>
                <a:pathLst>
                  <a:path w="575945" h="575949">
                    <a:moveTo>
                      <a:pt x="0" y="0"/>
                    </a:moveTo>
                    <a:lnTo>
                      <a:pt x="575945" y="0"/>
                    </a:lnTo>
                    <a:lnTo>
                      <a:pt x="575945" y="575949"/>
                    </a:lnTo>
                    <a:lnTo>
                      <a:pt x="0" y="575949"/>
                    </a:lnTo>
                    <a:close/>
                  </a:path>
                </a:pathLst>
              </a:custGeom>
              <a:solidFill>
                <a:srgbClr val="595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575996" cy="576000"/>
              <a:chOff x="0" y="0"/>
              <a:chExt cx="575996" cy="57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76000" cy="576004"/>
              </a:xfrm>
              <a:custGeom>
                <a:avLst/>
                <a:gdLst/>
                <a:ahLst/>
                <a:cxnLst/>
                <a:rect l="l" t="t" r="r" b="b"/>
                <a:pathLst>
                  <a:path w="576000" h="576004">
                    <a:moveTo>
                      <a:pt x="0" y="0"/>
                    </a:moveTo>
                    <a:lnTo>
                      <a:pt x="576000" y="0"/>
                    </a:lnTo>
                    <a:lnTo>
                      <a:pt x="576000" y="576004"/>
                    </a:lnTo>
                    <a:lnTo>
                      <a:pt x="0" y="576004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l="-78302" r="-78302" b="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75996" cy="614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22</a:t>
                </a: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286681" y="4474526"/>
            <a:ext cx="3382080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7"/>
              </a:lnSpc>
              <a:spcBef>
                <a:spcPct val="0"/>
              </a:spcBef>
            </a:pPr>
            <a:r>
              <a:rPr lang="en-US" sz="3364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 of actual data from clinics for better generalization of models.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2403" y="4426901"/>
            <a:ext cx="3866702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Creating an improved meal recommendation system based on artificial intelligence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65940" y="4904043"/>
            <a:ext cx="3270053" cy="159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sz="255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Improving accuracy of optical character recognition in poor quality reports.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990979" y="4322040"/>
            <a:ext cx="674961" cy="2485939"/>
          </a:xfrm>
          <a:custGeom>
            <a:avLst/>
            <a:gdLst/>
            <a:ahLst/>
            <a:cxnLst/>
            <a:rect l="l" t="t" r="r" b="b"/>
            <a:pathLst>
              <a:path w="674961" h="2485939">
                <a:moveTo>
                  <a:pt x="0" y="0"/>
                </a:moveTo>
                <a:lnTo>
                  <a:pt x="674961" y="0"/>
                </a:lnTo>
                <a:lnTo>
                  <a:pt x="674961" y="2485939"/>
                </a:lnTo>
                <a:lnTo>
                  <a:pt x="0" y="2485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367813" y="518722"/>
            <a:ext cx="1321775" cy="509978"/>
            <a:chOff x="0" y="0"/>
            <a:chExt cx="1762366" cy="6799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317194" y="2929001"/>
            <a:ext cx="737121" cy="128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  <a:spcBef>
                <a:spcPct val="0"/>
              </a:spcBef>
            </a:pPr>
            <a:r>
              <a:rPr lang="en-US" sz="7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63604" y="3207615"/>
            <a:ext cx="638937" cy="11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24865" y="3533858"/>
            <a:ext cx="540639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74828" y="3976770"/>
            <a:ext cx="4423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2C46">
                <a:alpha val="100000"/>
              </a:srgbClr>
            </a:gs>
            <a:gs pos="100000">
              <a:srgbClr val="9B4169">
                <a:alpha val="100000"/>
              </a:srgb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0561" y="-2102025"/>
            <a:ext cx="14264830" cy="14202794"/>
          </a:xfrm>
          <a:custGeom>
            <a:avLst/>
            <a:gdLst/>
            <a:ahLst/>
            <a:cxnLst/>
            <a:rect l="l" t="t" r="r" b="b"/>
            <a:pathLst>
              <a:path w="14264830" h="14202794">
                <a:moveTo>
                  <a:pt x="0" y="0"/>
                </a:moveTo>
                <a:lnTo>
                  <a:pt x="14264830" y="0"/>
                </a:lnTo>
                <a:lnTo>
                  <a:pt x="14264830" y="14202794"/>
                </a:lnTo>
                <a:lnTo>
                  <a:pt x="0" y="142027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749611" y="681080"/>
            <a:ext cx="9044140" cy="8924839"/>
          </a:xfrm>
          <a:custGeom>
            <a:avLst/>
            <a:gdLst/>
            <a:ahLst/>
            <a:cxnLst/>
            <a:rect l="l" t="t" r="r" b="b"/>
            <a:pathLst>
              <a:path w="9044140" h="8924839">
                <a:moveTo>
                  <a:pt x="0" y="0"/>
                </a:moveTo>
                <a:lnTo>
                  <a:pt x="9044140" y="0"/>
                </a:lnTo>
                <a:lnTo>
                  <a:pt x="9044140" y="8924840"/>
                </a:lnTo>
                <a:lnTo>
                  <a:pt x="0" y="8924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335251" y="2961646"/>
            <a:ext cx="7190575" cy="3118048"/>
            <a:chOff x="0" y="0"/>
            <a:chExt cx="9587433" cy="41573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87428" cy="4157401"/>
            </a:xfrm>
            <a:custGeom>
              <a:avLst/>
              <a:gdLst/>
              <a:ahLst/>
              <a:cxnLst/>
              <a:rect l="l" t="t" r="r" b="b"/>
              <a:pathLst>
                <a:path w="9587428" h="4157401">
                  <a:moveTo>
                    <a:pt x="0" y="0"/>
                  </a:moveTo>
                  <a:lnTo>
                    <a:pt x="9587428" y="0"/>
                  </a:lnTo>
                  <a:lnTo>
                    <a:pt x="9587428" y="4157401"/>
                  </a:lnTo>
                  <a:lnTo>
                    <a:pt x="0" y="41574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36" r="-56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23850"/>
              <a:ext cx="9587433" cy="3833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7583"/>
                </a:lnSpc>
              </a:pPr>
              <a:r>
                <a:rPr lang="en-US" sz="9099" b="1" spc="-240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8373" y="316427"/>
            <a:ext cx="2460108" cy="949179"/>
            <a:chOff x="0" y="0"/>
            <a:chExt cx="1762366" cy="6799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2379" cy="679958"/>
            </a:xfrm>
            <a:custGeom>
              <a:avLst/>
              <a:gdLst/>
              <a:ahLst/>
              <a:cxnLst/>
              <a:rect l="l" t="t" r="r" b="b"/>
              <a:pathLst>
                <a:path w="1762379" h="679958">
                  <a:moveTo>
                    <a:pt x="0" y="0"/>
                  </a:moveTo>
                  <a:lnTo>
                    <a:pt x="1762379" y="0"/>
                  </a:lnTo>
                  <a:lnTo>
                    <a:pt x="1762379" y="679958"/>
                  </a:lnTo>
                  <a:lnTo>
                    <a:pt x="0" y="67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25" b="-40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851</Words>
  <Application>Microsoft Office PowerPoint</Application>
  <PresentationFormat>Custom</PresentationFormat>
  <Paragraphs>264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Canva Sans Bold</vt:lpstr>
      <vt:lpstr>Calibri (MS) Italics</vt:lpstr>
      <vt:lpstr>Calibri (MS) Bold</vt:lpstr>
      <vt:lpstr>The Seasons</vt:lpstr>
      <vt:lpstr>PT Sans Bold</vt:lpstr>
      <vt:lpstr>Arial</vt:lpstr>
      <vt:lpstr>PT Sans Bold Italics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final.pptx</dc:title>
  <dc:creator>HUAWEI</dc:creator>
  <cp:lastModifiedBy>Ahmed Sameh Basuny Ahmed</cp:lastModifiedBy>
  <cp:revision>2</cp:revision>
  <dcterms:created xsi:type="dcterms:W3CDTF">2006-08-16T00:00:00Z</dcterms:created>
  <dcterms:modified xsi:type="dcterms:W3CDTF">2026-05-14T01:09:35Z</dcterms:modified>
  <dc:identifier>DAHJlexSe1Y</dc:identifier>
</cp:coreProperties>
</file>